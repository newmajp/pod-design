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960119" y="2011679"/>
            <a:ext cx="10271457" cy="1939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400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On-Premise Hyperscale Pod Designs</a:t>
            </a:r>
          </a:p>
          <a:p>
            <a:pPr>
              <a:spcBef>
                <a:spcPts val="1400"/>
              </a:spcBef>
              <a:defRPr sz="2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Modular Architecture for Big Data Deployments &amp; Container Convergence</a:t>
            </a:r>
          </a:p>
          <a:p>
            <a:pPr>
              <a:spcBef>
                <a:spcPts val="4000"/>
              </a:spcBef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Infrastructure Specification Blueprint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 txBox="1"/>
          <p:nvPr/>
        </p:nvSpPr>
        <p:spPr>
          <a:xfrm>
            <a:off x="777239" y="457200"/>
            <a:ext cx="4359708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Core Architectural Pillars</a:t>
            </a:r>
          </a:p>
        </p:txBody>
      </p:sp>
      <p:sp>
        <p:nvSpPr>
          <p:cNvPr id="98" name="TextBox 2"/>
          <p:cNvSpPr txBox="1"/>
          <p:nvPr/>
        </p:nvSpPr>
        <p:spPr>
          <a:xfrm>
            <a:off x="777239" y="1645920"/>
            <a:ext cx="5029202" cy="2446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Disaggregated Shared-Everything (DASE): decoupling compute from storage to scale capacity and processing limits independently.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Isolated Traffic Fabrics: dedicated physical lanes split big data shuffle streams away from critical storage read/write paths.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Cross-Cabinet Resiliency: distributed software architecture handles individual hardware failures cleanly without data corruption risks.</a:t>
            </a:r>
          </a:p>
        </p:txBody>
      </p:sp>
      <p:sp>
        <p:nvSpPr>
          <p:cNvPr id="99" name="TextBox 3"/>
          <p:cNvSpPr txBox="1"/>
          <p:nvPr/>
        </p:nvSpPr>
        <p:spPr>
          <a:xfrm>
            <a:off x="6263639" y="1645920"/>
            <a:ext cx="5029202" cy="2675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Compute Nodes: standard dual-socket servers, 32 Core / 64 Thread servers containing 1TB RAM to process heavy runtime queries.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Central Storage Cluster: a highly optimised VAST Data configuration deployed across a leaf / spine architecture supporting a 13PB raw / 39PB (3:1 DRR) flash matrix.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Distributed High Availability: splitting transactional databases and stateless storage entities across separate power and/or POD boundaries 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777239" y="457200"/>
            <a:ext cx="7593272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Pod Sizing &amp; Power Profiles - 3 Rack Design</a:t>
            </a:r>
          </a:p>
        </p:txBody>
      </p:sp>
      <p:sp>
        <p:nvSpPr>
          <p:cNvPr id="102" name="TextBox 2"/>
          <p:cNvSpPr txBox="1"/>
          <p:nvPr/>
        </p:nvSpPr>
        <p:spPr>
          <a:xfrm>
            <a:off x="777239" y="1645920"/>
            <a:ext cx="5029202" cy="1837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Option A: 15 kW Mid-Density (CR-B)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Supports 50 compute nodes across a 3 cabinets.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Operates within a safe continuous power ceiling.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Utilizes 64-port high-density network switches.</a:t>
            </a:r>
          </a:p>
        </p:txBody>
      </p:sp>
      <p:sp>
        <p:nvSpPr>
          <p:cNvPr id="103" name="TextBox 3"/>
          <p:cNvSpPr txBox="1"/>
          <p:nvPr/>
        </p:nvSpPr>
        <p:spPr>
          <a:xfrm>
            <a:off x="6263639" y="1645920"/>
            <a:ext cx="5029202" cy="2065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Option B: 5 kW Low-Density (WDC H1)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Stacks 24 total compute nodes into 3 cabinets.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Maximizes computing capacity for low kW infrastructure.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Wired via standard 36-port leaf switches.</a:t>
            </a:r>
          </a:p>
        </p:txBody>
      </p:sp>
      <p:sp>
        <p:nvSpPr>
          <p:cNvPr id="104" name="TextBox 2"/>
          <p:cNvSpPr txBox="1"/>
          <p:nvPr/>
        </p:nvSpPr>
        <p:spPr>
          <a:xfrm>
            <a:off x="777239" y="1645920"/>
            <a:ext cx="5029201" cy="1837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Option A: 15 kW Mid-Density (CR-B)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Supports 38 compute nodes across a 2 cabinets.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Operates within a safe continuous power ceiling.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Utilizes 64-port high-density network switches.</a:t>
            </a:r>
          </a:p>
        </p:txBody>
      </p:sp>
      <p:sp>
        <p:nvSpPr>
          <p:cNvPr id="105" name="TextBox 2"/>
          <p:cNvSpPr txBox="1"/>
          <p:nvPr/>
        </p:nvSpPr>
        <p:spPr>
          <a:xfrm>
            <a:off x="2781007" y="3664555"/>
            <a:ext cx="6617286" cy="2599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Storage: Per POD Design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 cabinet solution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Supports 2 D-Nodes 2.2PB usable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Supports 4 C-Nodes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 Dedicated VAST Data Leaf switches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 Dedicated VAST Data Spine switches co-located with HSBC cores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 txBox="1"/>
          <p:nvPr/>
        </p:nvSpPr>
        <p:spPr>
          <a:xfrm>
            <a:off x="777239" y="457200"/>
            <a:ext cx="9331684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Pod Sizing &amp; Power Profiles - 2 Rack Compute Design </a:t>
            </a:r>
          </a:p>
        </p:txBody>
      </p:sp>
      <p:sp>
        <p:nvSpPr>
          <p:cNvPr id="108" name="TextBox 2"/>
          <p:cNvSpPr txBox="1"/>
          <p:nvPr/>
        </p:nvSpPr>
        <p:spPr>
          <a:xfrm>
            <a:off x="777239" y="1645920"/>
            <a:ext cx="5029201" cy="1837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Option A: 15 kW Mid-Density (CR-B)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Supports 38 compute nodes across a 2 cabinets.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Operates within a safe continuous power ceiling.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Utilizes 64-port high-density network switches.</a:t>
            </a:r>
          </a:p>
        </p:txBody>
      </p:sp>
      <p:sp>
        <p:nvSpPr>
          <p:cNvPr id="109" name="TextBox 3"/>
          <p:cNvSpPr txBox="1"/>
          <p:nvPr/>
        </p:nvSpPr>
        <p:spPr>
          <a:xfrm>
            <a:off x="6263640" y="1645920"/>
            <a:ext cx="5464413" cy="1837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Option B: 5 kW Low-Density (WDC H1)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Stacks 24 total compute nodes into 2 cabinets.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Maximizes computing capacity for low kW infrastructure.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Wired via standard 36-port leaf switches.</a:t>
            </a:r>
          </a:p>
        </p:txBody>
      </p:sp>
      <p:sp>
        <p:nvSpPr>
          <p:cNvPr id="110" name="TextBox 2"/>
          <p:cNvSpPr txBox="1"/>
          <p:nvPr/>
        </p:nvSpPr>
        <p:spPr>
          <a:xfrm>
            <a:off x="788215" y="3715134"/>
            <a:ext cx="5330419" cy="282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Storage: 15 kW Mid-Density (CR-B)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 cabinet solution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Supports 4 D-Nodes 4.4PB usable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Supports 6 C-Nodes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 Dedicated VAST Data Leaf switches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 Dedicated VAST Data Spine switches co-located with HSBC cores</a:t>
            </a:r>
          </a:p>
        </p:txBody>
      </p:sp>
      <p:sp>
        <p:nvSpPr>
          <p:cNvPr id="111" name="TextBox 2"/>
          <p:cNvSpPr txBox="1"/>
          <p:nvPr/>
        </p:nvSpPr>
        <p:spPr>
          <a:xfrm>
            <a:off x="6330636" y="3715134"/>
            <a:ext cx="5330420" cy="282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Storage: 5 kW Low-Density (CR-B)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 cabinet solution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Supports 2 D-Nodes 2.2PB usable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Supports 4 C-Nodes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 Dedicated VAST Data Leaf switches per cabinet</a:t>
            </a:r>
          </a:p>
          <a:p>
            <a:pPr marL="160421" indent="-160421">
              <a:spcBef>
                <a:spcPts val="1200"/>
              </a:spcBef>
              <a:buSzPct val="100000"/>
              <a:buChar char="•"/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 Dedicated VAST Data Spine switches co-located with HSBC cores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 txBox="1"/>
          <p:nvPr/>
        </p:nvSpPr>
        <p:spPr>
          <a:xfrm>
            <a:off x="777239" y="457200"/>
            <a:ext cx="6519006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Storage Matrix: VAST Data Integration</a:t>
            </a:r>
          </a:p>
        </p:txBody>
      </p:sp>
      <p:sp>
        <p:nvSpPr>
          <p:cNvPr id="114" name="TextBox 2"/>
          <p:cNvSpPr txBox="1"/>
          <p:nvPr/>
        </p:nvSpPr>
        <p:spPr>
          <a:xfrm>
            <a:off x="777239" y="1645920"/>
            <a:ext cx="5029202" cy="2675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13.2 PB Usable (39.6PB with 3:1 DRR) Flash Infrastructure: managed through a decoupled software-defined layout.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Stateless VAST CNodes (Compute Elements): 24 total nodes distributed evenly across all cabinets (1 per rack). Handles processing and protocol abstraction safely.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VAST DNodes (Data Units): 2 highly dense hardware shelves located in each POD to handle bulk files natively.</a:t>
            </a:r>
          </a:p>
        </p:txBody>
      </p:sp>
      <p:sp>
        <p:nvSpPr>
          <p:cNvPr id="115" name="TextBox 3"/>
          <p:cNvSpPr txBox="1"/>
          <p:nvPr/>
        </p:nvSpPr>
        <p:spPr>
          <a:xfrm>
            <a:off x="6263639" y="1645920"/>
            <a:ext cx="5029202" cy="328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VAST S3 API providing high performance storage for Big Data processing via Apache Spark, Hive, Trino processing engines. 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VAST Block CSI Operator: attaches volumes via automated Virtual IP (VIP) addresses over NVMe/TCP paths.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VAST Filesystem CSI: grants active container structures simultaneous shared access (ReadWriteMany) to big data folders.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Efficiency Maintenance: structural metadata compression lowers actual capacity costs across the cluster.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777239" y="457200"/>
            <a:ext cx="6704446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High Availability Database Architecture</a:t>
            </a:r>
          </a:p>
        </p:txBody>
      </p:sp>
      <p:sp>
        <p:nvSpPr>
          <p:cNvPr id="118" name="TextBox 2"/>
          <p:cNvSpPr txBox="1"/>
          <p:nvPr/>
        </p:nvSpPr>
        <p:spPr>
          <a:xfrm>
            <a:off x="777239" y="1645920"/>
            <a:ext cx="5029202" cy="1989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PostgreSQL Bare-Metal Cluster: deployed across all 3 racks to eliminate single points of power failure.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Failover Management: uses an independent consensus network layer to orchestrate cluster states.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Automated Promotion Flow: moves primary master roles to surviving nodes in under 30 seconds if a rack drops offline.</a:t>
            </a:r>
          </a:p>
        </p:txBody>
      </p:sp>
      <p:sp>
        <p:nvSpPr>
          <p:cNvPr id="119" name="TextBox 3"/>
          <p:cNvSpPr txBox="1"/>
          <p:nvPr/>
        </p:nvSpPr>
        <p:spPr>
          <a:xfrm>
            <a:off x="6263639" y="1645920"/>
            <a:ext cx="5029202" cy="2218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Dual MaxScale Proxies: serve as highly resilient network entry points to mask node adjustments from the application layer.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Smart Routing Layout: connection pools divide write traffic away from read queries dynamically.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Converged Interconnect: interfaces connect directly to the compute switches via secure, isolated VLAN paths.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 txBox="1"/>
          <p:nvPr/>
        </p:nvSpPr>
        <p:spPr>
          <a:xfrm>
            <a:off x="777239" y="457200"/>
            <a:ext cx="5498392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Network Fabric &amp; Cabling Rules</a:t>
            </a:r>
          </a:p>
        </p:txBody>
      </p:sp>
      <p:sp>
        <p:nvSpPr>
          <p:cNvPr id="122" name="TextBox 2"/>
          <p:cNvSpPr txBox="1"/>
          <p:nvPr/>
        </p:nvSpPr>
        <p:spPr>
          <a:xfrm>
            <a:off x="777239" y="1645920"/>
            <a:ext cx="5029202" cy="2218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Intra-Rack Media: short Direct Attach Copper (DAC) cables provide high efficiency and lowest latency.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Inter-Rack Media: thin Active Optical Cables (AOC) pass through overhead pathways to ensure crisp airflow.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Switch Distribution Setup: compute leaves are split across cabinets 1 and 2, while storage leaves run via MLAG links in cabinet 3.</a:t>
            </a:r>
          </a:p>
        </p:txBody>
      </p:sp>
      <p:sp>
        <p:nvSpPr>
          <p:cNvPr id="123" name="TextBox 3"/>
          <p:cNvSpPr txBox="1"/>
          <p:nvPr/>
        </p:nvSpPr>
        <p:spPr>
          <a:xfrm>
            <a:off x="6263639" y="1645920"/>
            <a:ext cx="5029202" cy="2446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Jumbo Frames Implementation: standard MTU limits are set to 9000 across all interfaces to lower parsing overheads.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Lossless Flow Control: enabling PFC and ECN settings completely stops packet drop incidents during massive shuffles.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Bandwidth Performance Guardrails: isolated VLAN mappings protect data workloads from network interference.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 txBox="1"/>
          <p:nvPr/>
        </p:nvSpPr>
        <p:spPr>
          <a:xfrm>
            <a:off x="777239" y="457200"/>
            <a:ext cx="6841616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Convergence Roadmap: Hadoop to K8S</a:t>
            </a:r>
          </a:p>
        </p:txBody>
      </p:sp>
      <p:sp>
        <p:nvSpPr>
          <p:cNvPr id="126" name="TextBox 2"/>
          <p:cNvSpPr txBox="1"/>
          <p:nvPr/>
        </p:nvSpPr>
        <p:spPr>
          <a:xfrm>
            <a:off x="777239" y="1645920"/>
            <a:ext cx="5029202" cy="2675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Phase 1: Storage Decoupling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Transition application lines to use S3 API or VAST native storage drivers.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Eliminates local disk dependencies on data workers.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Phase 2: Modern Schedulers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Deploy the Spark-on-K8S Operator inside the cluster.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Bypasses legacy YARN processing engines completely.</a:t>
            </a:r>
          </a:p>
        </p:txBody>
      </p:sp>
      <p:sp>
        <p:nvSpPr>
          <p:cNvPr id="127" name="TextBox 3"/>
          <p:cNvSpPr txBox="1"/>
          <p:nvPr/>
        </p:nvSpPr>
        <p:spPr>
          <a:xfrm>
            <a:off x="6263639" y="1645920"/>
            <a:ext cx="5029202" cy="2675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Phase 3: Hardware Re-Provisioning Flow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1. Safe drainage of leftover Hadoop workload tasks.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2. Automated network PXE boots to wipe system drives.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3. Fresh installation of the minimal operating image.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4. Deployment of the Kubelet runtime agent.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5. Node automatically registers as a fresh compute asset.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 txBox="1"/>
          <p:nvPr/>
        </p:nvSpPr>
        <p:spPr>
          <a:xfrm>
            <a:off x="777239" y="457200"/>
            <a:ext cx="5578610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Disaster Recovery (DR) Strategy</a:t>
            </a:r>
          </a:p>
        </p:txBody>
      </p:sp>
      <p:sp>
        <p:nvSpPr>
          <p:cNvPr id="130" name="TextBox 2"/>
          <p:cNvSpPr txBox="1"/>
          <p:nvPr/>
        </p:nvSpPr>
        <p:spPr>
          <a:xfrm>
            <a:off x="777239" y="1645920"/>
            <a:ext cx="5029202" cy="2446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Cross-Site VAST Snapshot Streaming: snapshots pass natively over WAN paths between Site A and Site B data centers.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 Reduction Retention: global deduplication patterns are maintained during transit to lower WAN network bills.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Asynchronous Database Syncing: continuous transaction logs stream into a dedicated Patroni Standby environment.</a:t>
            </a:r>
          </a:p>
        </p:txBody>
      </p:sp>
      <p:sp>
        <p:nvSpPr>
          <p:cNvPr id="131" name="TextBox 3"/>
          <p:cNvSpPr txBox="1"/>
          <p:nvPr/>
        </p:nvSpPr>
        <p:spPr>
          <a:xfrm>
            <a:off x="6263639" y="1645920"/>
            <a:ext cx="5029202" cy="2370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Unified Failover Runbook Flow: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1. Update Global Traffic routing entries to swing client access towards Site B.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2. Signal Patroni at Site B to promote its standby database node to full Primary mode.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3. Trigger the VAST CSI Operator to mount replicated files, allowing containers to immediately resume query tracking.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