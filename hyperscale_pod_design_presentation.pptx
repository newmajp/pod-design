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9FAFB"/>
                </a:solidFill>
                <a:latin typeface="Arial"/>
              </a:defRPr>
            </a:pPr>
            <a:r>
              <a:t>On-Premise Hyperscale Pod Designs</a:t>
            </a:r>
          </a:p>
          <a:p>
            <a:pPr algn="l">
              <a:spcBef>
                <a:spcPts val="1400"/>
              </a:spcBef>
              <a:defRPr sz="2200">
                <a:solidFill>
                  <a:srgbClr val="2563EB"/>
                </a:solidFill>
                <a:latin typeface="Arial"/>
              </a:defRPr>
            </a:pPr>
            <a:r>
              <a:t>Modular Architecture for Big Data Deployments &amp; Container Convergence</a:t>
            </a:r>
          </a:p>
          <a:p>
            <a:pPr>
              <a:spcBef>
                <a:spcPts val="4000"/>
              </a:spcBef>
              <a:defRPr sz="1400">
                <a:solidFill>
                  <a:srgbClr val="6B7280"/>
                </a:solidFill>
                <a:latin typeface="Arial"/>
              </a:defRPr>
            </a:pPr>
            <a:r>
              <a:t>Infrastructure Specification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Core Architectural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Disaggregated Shared-Everything (DASE): decoupling compute from storage to scale capacity and processing limits independently.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Isolated Traffic Fabrics: dedicated physical lanes split big data shuffle streams away from critical storage read/write paths.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Cross-Cabinet Resiliency: distributed software architecture handles individual hardware failures cleanly without data corruption risks.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Compute Nodes: standard dual-socket servers containing 1TB RAM to process heavy runtime queries.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Central Storage Cluster: a highly optimized VAST Data configuration supporting a 20PB raw flash matrix.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Distributed High Availability: splitting transactional databases and stateless storage entities across separate power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Pod Sizing &amp; Power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Option A: 15 kW Mid-Density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Supports 31 compute nodes across a 3-rack limit.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Operates with a 12.0 kW safe continuous ceiling.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Wired via standard 36-port leaf switches.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Option C: 7 kW Corporate Low-Density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Supports 13 compute nodes across the pod mesh.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Restricts continuous drawer load to 5.6 kW.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Fits perfectly in non-specialized server rooms.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Option B: 30 kW Extreme-Density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Stacks 67 total compute nodes into 3 cabinets.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Maximizes computing capacity within a 24.0 kW continuous line envelope.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Utilizes 64-port high-density network switches.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Requires specialized infrastructure tools like Rear Door Heat Exchangers (RDHx) to handle intense thermal 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Storage Matrix: VAST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20PB Raw Flash Infrastructure: managed through a decoupled software-defined layout.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Stateless VAST CNodes (Compute Elements): 3 total nodes distributed evenly across all cabinets (1 per rack). Handles processing and protocol abstraction safely.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VAST DNodes (Data Units): 2 highly dense hardware shelves located in Rack 3 to handle bulk files natively.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VAST Block CSI Operator: attaches volumes via automated Virtual IP (VIP) addresses over NVMe/TCP paths.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VAST Filesystem CSI: grants active container structures simultaneous shared access (ReadWriteMany) to big data folders.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Efficiency Maintenance: structural metadata compression lowers actual capacity costs across the cluster.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High Availability 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PostgreSQL Bare-Metal Cluster: deployed across all 3 racks to eliminate single points of power failure.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Patroni Failover Management: uses an independent consensus network layer to orchestrate cluster states.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Automated Promotion Flow: moves primary master roles to surviving nodes in under 30 seconds if a rack drops offline.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Dual MaxScale Proxies: serve as highly resilient network entry points to mask node adjustments from the application layer.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Smart Routing Layout: connection pools divide write traffic away from read queries dynamically.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Converged Interconnect: interfaces connect directly to the compute switches via secure, isolated VLAN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Network Fabric &amp; Cabling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Intra-Rack Media: short Direct Attach Copper (DAC) cables provide high efficiency and lowest latency.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Inter-Rack Media: thin Active Optical Cables (AOC) pass through overhead pathways to ensure crisp airflow.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Switch Distribution Setup: compute leaves are split across cabinets 1 and 2, while storage leaves run via MLAG links in cabinet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Jumbo Frames Implementation: standard MTU limits are set to 9000 across all interfaces to lower parsing overheads.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Lossless Flow Control: enabling PFC and ECN settings completely stops packet drop incidents during massive shuffles.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Bandwidth Performance Guardrails: isolated VLAN mappings protect data workloads from network interference.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Convergence Roadmap: Hadoop to K8S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Phase 1: Storage Decoupling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Transition application lines to use S3 API or VAST native storage drivers.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Eliminates local disk dependencies on data workers.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Phase 2: Modern Schedulers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Deploy the Spark-on-K8S Operator inside the cluster.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Bypasses legacy YARN processing engines completely.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Phase 3: Hardware Re-Provisioning Flow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1. Safe drainage of leftover Hadoop workload tasks.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2. Automated network PXE boots to wipe system drives.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3. Fresh installation of the minimal operating image.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4. Deployment of the Kubelet runtime agent.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5. Node automatically registers as a fresh compute asset.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Disaster Recovery (DR)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Cross-Site VAST Snapshot Streaming: snapshots pass natively over WAN paths between Site A and Site B data centers.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Data Reduction Retention: global deduplication patterns are maintained during transit to lower WAN network bills.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Asynchronous Database Syncing: continuous transaction logs stream into a dedicated Patroni Standby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Unified Failover Runbook Flow: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1. Update Global Traffic routing entries to swing client access towards Site B.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2. Signal Patroni at Site B to promote its standby database node to full Primary mode.</a:t>
            </a:r>
          </a:p>
          <a:p>
            <a:pPr>
              <a:spcAft>
                <a:spcPts val="1200"/>
              </a:spcAft>
              <a:defRPr sz="1600">
                <a:solidFill>
                  <a:srgbClr val="374151"/>
                </a:solidFill>
                <a:latin typeface="Arial"/>
              </a:defRPr>
            </a:pPr>
            <a:r>
              <a:t>• 3. Trigger the VAST CSI Operator to mount replicated files, allowing containers to immediately resume query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